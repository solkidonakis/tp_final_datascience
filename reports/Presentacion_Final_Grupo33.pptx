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PROYECTO FINAL INTEGRADOR</a:t>
            </a:r>
          </a:p>
          <a:p>
            <a:pPr algn="ctr">
              <a:spcAft>
                <a:spcPts val="80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Detección de Fraude en Tarjetas de Crédito</a:t>
            </a:r>
          </a:p>
          <a:p>
            <a:pPr algn="ctr">
              <a:spcAft>
                <a:spcPts val="8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Grupo 33</a:t>
            </a:r>
          </a:p>
          <a:p>
            <a:pPr algn="ctr">
              <a:spcAft>
                <a:spcPts val="8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Mariana Chaile · Eugenia Salcedo Aisa · Sol Kidonakis</a:t>
            </a:r>
          </a:p>
          <a:p>
            <a:pPr algn="ctr">
              <a:spcAft>
                <a:spcPts val="8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Marco Garcia · Esteban Derghazarian</a:t>
            </a:r>
          </a:p>
          <a:p>
            <a:pPr algn="ctr">
              <a:spcAft>
                <a:spcPts val="8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Octubre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  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10058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1. Problema de negocio y objetivo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2. Datos y desbalance extremo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3. Metodología CRISP-DM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4. Modelos y métricas principales (PR-AUC, Recall, Precision)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5. Métrica de negocio: captura Top-100 / Top-500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6. Validación temporal vs aleatoria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7. Impacto, riesgos y recomendaciones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Calibri"/>
              </a:rPr>
              <a:t>Grupo 33 · Detección de Fraude · 2/12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  El problema: fraude con pocos casos y muchas operaciones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222222"/>
                </a:solidFill>
                <a:latin typeface="Calibri"/>
              </a:rPr>
              <a:t>Pérdidas globales &gt; USD 33.000 M / año por fraude en tarjetas.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22222"/>
                </a:solidFill>
                <a:latin typeface="Calibri"/>
              </a:rPr>
              <a:t>Dataset ULB: 283,726 transacciones · solo 473 fraudes (0.167%).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22222"/>
                </a:solidFill>
                <a:latin typeface="Calibri"/>
              </a:rPr>
              <a:t>Audiencia: Prevención de Fraude / Riesgo Crediticio.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22222"/>
                </a:solidFill>
                <a:latin typeface="Calibri"/>
              </a:rPr>
              <a:t>Objetivo: maximizar detección SIN saturar al equipo con falsas alertas.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22222"/>
                </a:solidFill>
                <a:latin typeface="Calibri"/>
              </a:rPr>
              <a:t>Hipótesis: ML supera reglas estáticas priorizando una cola de revisión accionable.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Calibri"/>
              </a:rPr>
              <a:t>Grupo 33 · Detección de Fraude · 3/12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  Datos: desbalance extremo</a:t>
            </a:r>
          </a:p>
        </p:txBody>
      </p:sp>
      <p:pic>
        <p:nvPicPr>
          <p:cNvPr id="3" name="Picture 2" descr="01_class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5669280" cy="300202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583680" y="1371600"/>
            <a:ext cx="5029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473 fraudes vs 283,253 legítimas.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Sin nulos; duplicados eliminados.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V1–V28 = PCA anonimizado.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Amount sesgado → log1p.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Time habilita validación temporal.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Accuracy engaña → usamos PR-AUC.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Calibri"/>
              </a:rPr>
              <a:t>Grupo 33 · Detección de Fraude · 4/12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  Metodología CRISP-DM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222222"/>
                </a:solidFill>
                <a:latin typeface="Calibri"/>
              </a:rPr>
              <a:t>Preparación en Pipeline: StandardScaler(Time, Amount_log) sin leakage.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22222"/>
                </a:solidFill>
                <a:latin typeface="Calibri"/>
              </a:rPr>
              <a:t>Modelos: Logistic Regression · Random Forest · XGBoost · LightGBM · XGBoost+SMOTE.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22222"/>
                </a:solidFill>
                <a:latin typeface="Calibri"/>
              </a:rPr>
              <a:t>Métricas principales: PR-AUC, Recall, Precision (+ F1, ROC-AUC).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22222"/>
                </a:solidFill>
                <a:latin typeface="Calibri"/>
              </a:rPr>
              <a:t>Negocio: captura Top-K y volumen de alertas por umbral.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22222"/>
                </a:solidFill>
                <a:latin typeface="Calibri"/>
              </a:rPr>
              <a:t>Validación: holdout estratificado 80/20  vs  split temporal por 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Calibri"/>
              </a:rPr>
              <a:t>Grupo 33 · Detección de Fraude · 5/12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  Resultados clave — modelo: XGBoost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280160"/>
            <a:ext cx="2651760" cy="1463040"/>
          </a:xfrm>
          <a:prstGeom prst="roundRect">
            <a:avLst/>
          </a:prstGeom>
          <a:solidFill>
            <a:srgbClr val="EEF5FB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0">
                <a:solidFill>
                  <a:srgbClr val="555555"/>
                </a:solidFill>
                <a:latin typeface="Calibri"/>
              </a:rPr>
              <a:t>PR-AUC</a:t>
            </a:r>
          </a:p>
          <a:p>
            <a:pPr algn="ctr"/>
            <a:r>
              <a:rPr sz="2800" b="1">
                <a:solidFill>
                  <a:srgbClr val="1F4E79"/>
                </a:solidFill>
                <a:latin typeface="Calibri"/>
              </a:rPr>
              <a:t>0.827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74720" y="1280160"/>
            <a:ext cx="2651760" cy="1463040"/>
          </a:xfrm>
          <a:prstGeom prst="roundRect">
            <a:avLst/>
          </a:prstGeom>
          <a:solidFill>
            <a:srgbClr val="EEF5FB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0">
                <a:solidFill>
                  <a:srgbClr val="555555"/>
                </a:solidFill>
                <a:latin typeface="Calibri"/>
              </a:rPr>
              <a:t>Recall</a:t>
            </a:r>
          </a:p>
          <a:p>
            <a:pPr algn="ctr"/>
            <a:r>
              <a:rPr sz="2800" b="1">
                <a:solidFill>
                  <a:srgbClr val="1F4E79"/>
                </a:solidFill>
                <a:latin typeface="Calibri"/>
              </a:rPr>
              <a:t>81.1%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280160"/>
            <a:ext cx="2651760" cy="1463040"/>
          </a:xfrm>
          <a:prstGeom prst="roundRect">
            <a:avLst/>
          </a:prstGeom>
          <a:solidFill>
            <a:srgbClr val="EEF5FB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0">
                <a:solidFill>
                  <a:srgbClr val="555555"/>
                </a:solidFill>
                <a:latin typeface="Calibri"/>
              </a:rPr>
              <a:t>Precision</a:t>
            </a:r>
          </a:p>
          <a:p>
            <a:pPr algn="ctr"/>
            <a:r>
              <a:rPr sz="2800" b="1">
                <a:solidFill>
                  <a:srgbClr val="1F4E79"/>
                </a:solidFill>
                <a:latin typeface="Calibri"/>
              </a:rPr>
              <a:t>86.5%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1280160"/>
            <a:ext cx="2651760" cy="1463040"/>
          </a:xfrm>
          <a:prstGeom prst="roundRect">
            <a:avLst/>
          </a:prstGeom>
          <a:solidFill>
            <a:srgbClr val="EEF5FB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0">
                <a:solidFill>
                  <a:srgbClr val="555555"/>
                </a:solidFill>
                <a:latin typeface="Calibri"/>
              </a:rPr>
              <a:t>F1</a:t>
            </a:r>
          </a:p>
          <a:p>
            <a:pPr algn="ctr"/>
            <a:r>
              <a:rPr sz="2800" b="1">
                <a:solidFill>
                  <a:srgbClr val="1F4E79"/>
                </a:solidFill>
                <a:latin typeface="Calibri"/>
              </a:rPr>
              <a:t>0.837</a:t>
            </a:r>
          </a:p>
        </p:txBody>
      </p:sp>
      <p:pic>
        <p:nvPicPr>
          <p:cNvPr id="7" name="Picture 6" descr="06_pr_curve_aleator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3017520"/>
            <a:ext cx="5486400" cy="532571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Calibri"/>
              </a:rPr>
              <a:t>Grupo 33 · Detección de Fraude · 6/12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  Métrica de negocio: ¿cuántos fraudes si revisamos Top-K?</a:t>
            </a:r>
          </a:p>
        </p:txBody>
      </p:sp>
      <p:pic>
        <p:nvPicPr>
          <p:cNvPr id="3" name="Picture 2" descr="08_captura_topk_aleator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6400800" cy="303108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040880" y="1645920"/>
            <a:ext cx="45720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Top-100 → 77 fraudes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Precision@100 = 77.0%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Top-500 → 82 fraudes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Lift@500 = 98.0×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Traduce el score a una cola de revisión realista para el equipo.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Calibri"/>
              </a:rPr>
              <a:t>Grupo 33 · Detección de Fraude · 7/12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  No alcanza con FPR: mirar Precision y carga de revisión</a:t>
            </a:r>
          </a:p>
        </p:txBody>
      </p:sp>
      <p:pic>
        <p:nvPicPr>
          <p:cNvPr id="3" name="Picture 2" descr="09_workload_aleator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6583680" cy="313699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2320" y="1463040"/>
            <a:ext cx="45720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FPR 5% sobre ~56,651 legítimas = miles de falsas alertas.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Umbral elegido: 0.55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Alertas a revisar: 88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Recall 81.1% · Precision 87.5%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TP=77 · FP=11 · FN=18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Calibri"/>
              </a:rPr>
              <a:t>Grupo 33 · Detección de Fraude · 8/12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  Validación temporal vs aleatoria</a:t>
            </a:r>
          </a:p>
        </p:txBody>
      </p:sp>
      <p:pic>
        <p:nvPicPr>
          <p:cNvPr id="3" name="Picture 2" descr="11_comparison_pr_au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6858000" cy="332407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98079" y="1645920"/>
            <a:ext cx="420624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Aleatorio: mezcla pasado/futuro.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Temporal: entrena con anteriores, prueba con posteriores.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Mejor temporal: RandomForest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PR-AUC temporal: 0.813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Más realista para despliegue.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Calibri"/>
              </a:rPr>
              <a:t>Grupo 33 · Detección de Fraude · 9/12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  Impacto esperado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222222"/>
                </a:solidFill>
                <a:latin typeface="Calibri"/>
              </a:rPr>
              <a:t>Prioriza la cola de revisión humana (Top-100 / Top-500).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22222"/>
                </a:solidFill>
                <a:latin typeface="Calibri"/>
              </a:rPr>
              <a:t>Reduce fraudes no detectados vs reglas estáticas.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22222"/>
                </a:solidFill>
                <a:latin typeface="Calibri"/>
              </a:rPr>
              <a:t>Evita saturar al equipo con miles de falsas alarmas.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22222"/>
                </a:solidFill>
                <a:latin typeface="Calibri"/>
              </a:rPr>
              <a:t>Umbral = decisión de negocio explícita (Precision + capacidad).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22222"/>
                </a:solidFill>
                <a:latin typeface="Calibri"/>
              </a:rPr>
              <a:t>Escalable a scoring batch / near real-time.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Calibri"/>
              </a:rPr>
              <a:t>Grupo 33 · Detección de Fraude · 10/12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  Riesgos, limitaciones y ética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222222"/>
                </a:solidFill>
                <a:latin typeface="Calibri"/>
              </a:rPr>
              <a:t>Dataset de solo 2 días (2013): representatividad limitada.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22222"/>
                </a:solidFill>
                <a:latin typeface="Calibri"/>
              </a:rPr>
              <a:t>Variables PCA dificultan explicación regulatoria.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22222"/>
                </a:solidFill>
                <a:latin typeface="Calibri"/>
              </a:rPr>
              <a:t>Falso positivo = fricción al cliente; falso negativo = pérdida.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22222"/>
                </a:solidFill>
                <a:latin typeface="Calibri"/>
              </a:rPr>
              <a:t>Datos anonimizados; sin PII; licencia ODbL.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22222"/>
                </a:solidFill>
                <a:latin typeface="Calibri"/>
              </a:rPr>
              <a:t>Requiere monitoreo de drift y recalibración del umbral.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Calibri"/>
              </a:rPr>
              <a:t>Grupo 33 · Detección de Fraude · 11/12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  Conclusiones y próximos pasos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Modelo recomendado: XGBoost (mejor PR-AUC).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KPI técnicos: PR-AUC · Recall · Precision.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KPI de negocio: captura Top-100 / Top-500 y alertas revisables.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Validar siempre con esquema temporal antes de producción.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Próximos pasos: feedback del analista, drift monitoring, features adicionales.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Código + informe + esta presentación en el repositorio del Grupo 33.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55555"/>
                </a:solidFill>
                <a:latin typeface="Calibri"/>
              </a:rPr>
              <a:t>Grupo 33 · Detección de Fraude · 12/12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
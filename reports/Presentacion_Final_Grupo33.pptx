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DIPLOMADO EN CIENCIA DE DATOS Y ANÁLISIS AVANZADO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Unidad N° 9 — Proyecto Final Integrador</a:t>
            </a:r>
          </a:p>
          <a:p>
            <a:pPr algn="ctr">
              <a:spcAft>
                <a:spcPts val="400"/>
              </a:spcAft>
            </a:pP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Detección de Fraude
en Tarjetas de Crédito</a:t>
            </a:r>
          </a:p>
          <a:p>
            <a:pPr algn="ctr">
              <a:spcAft>
                <a:spcPts val="400"/>
              </a:spcAft>
            </a:pPr>
          </a:p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Presentación Final del Proyecto — Grupo 33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Mariana Chaile · Eugenia Salcedo Aisa · Sol Kidonakis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Marco Garcia · Esteban Derghazarian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1. Resumen ejecutivo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2. Problema de negocio y objetivo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3. Datos y metodología (CRISP-DM)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4. Modelos evaluados y selección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5. Resultados clave (PR-AUC, Recall, Precision)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6. Métrica de negocio: captura Top-100 / Top-500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7. Umbral operativo y carga de revisión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8. Validación temporal vs aleatoria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9. Impacto, riesgos y ética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10. Conclusiones y 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1. Resumen ejecutivo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Problema: detectar fraude en un flujo con desbalance extremo (492 fraudes en 284.807 transacciones; 0,172 %).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Solución: modelo supervisado XGBoost que prioriza una cola de revisión humana.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Resultados clave (holdout aleatorio): PR-AUC 0.827 · Recall 81.1% · Precision 86.5%.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Negocio: Top-100 → 77 fraudes; Top-500 → 82 fraudes (lift 98.0×).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Operación: umbral 0.55 → solo 88 alertas (77 TP / 11 FP), frente a miles con un FPR del 5 %.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Robustez: en validación temporal, RandomForest alcanza PR-AUC 0.813.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2. Problema de negocio y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Audiencia: Prevención de Fraude / Gestión de Riesgo Crediticio.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Objetivo medible: clasificar cada transacción (fraude vs legítima) maximizando detección y controlando alertas revisables.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Hipótesis: patrones en monto, tiempo y componentes PCA superan reglas estáticas.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KPI técnicos: PR-AUC, Recall y Precision (no Accuracy ni solo FPR).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KPI de negocio: ¿cuántos fraudes encontramos si revisamos Top-100 o Top-500?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Restricción crítica: con tan pocos fraudes, FPR ≤ 5 % generaría miles de falsas alertas.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3. Datos y metodología (CRISP-DM)</a:t>
            </a:r>
          </a:p>
        </p:txBody>
      </p:sp>
      <p:pic>
        <p:nvPicPr>
          <p:cNvPr id="3" name="Picture 2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486400" cy="3145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109728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Fuente: ULB / Kaggle (ODbL).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Tras limpieza: 283,726 filas; 473 fraudes.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Sin nulos; duplicados eliminados.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Amount_log = log1p(Amount).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Scaler de Time y Amount_log dentro del Pipeline (sin leakage).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Validación: (A) aleatorio 80/20 estratificado; (B) temporal por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4. Modelos evaluados y criterio de selección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Baseline: Regresión Logística (class_weight=balanced).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Alternativas: Random Forest · XGBoost · LightGBM · XGBoost+SMOTE.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Selección por PR-AUC (ranking bajo desbalance), con Recall/Precision y carga de alertas.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Modelo elegido: XGBoost — mejor equilibrio detección / alertas útiles.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LogisticRegression: PR-AUC 0.677 · R 87.4% · P 5.5%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RandomForest: PR-AUC 0.799 · R 74.7% · P 89.9%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XGBoost: PR-AUC 0.827 · R 81.1% · P 86.5% ← elegido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LightGBM: PR-AUC 0.048 · R 76.8% · P 6.0%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•  XGBoost_SMOTE: PR-AUC 0.765 · R 84.2% · P 7.9%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5. Resultados clave — holdout aleatorio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606040" cy="1234440"/>
          </a:xfrm>
          <a:prstGeom prst="roundRect">
            <a:avLst/>
          </a:prstGeom>
          <a:solidFill>
            <a:srgbClr val="EE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PR-AUC</a:t>
            </a:r>
          </a:p>
          <a:p>
            <a:pPr algn="ctr"/>
            <a:r>
              <a:rPr sz="2400" b="1">
                <a:solidFill>
                  <a:srgbClr val="1F4E79"/>
                </a:solidFill>
                <a:latin typeface="Calibri"/>
              </a:rPr>
              <a:t>0.827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051560"/>
            <a:ext cx="2606040" cy="1234440"/>
          </a:xfrm>
          <a:prstGeom prst="roundRect">
            <a:avLst/>
          </a:prstGeom>
          <a:solidFill>
            <a:srgbClr val="EE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Recall</a:t>
            </a:r>
          </a:p>
          <a:p>
            <a:pPr algn="ctr"/>
            <a:r>
              <a:rPr sz="2400" b="1">
                <a:solidFill>
                  <a:srgbClr val="1F4E79"/>
                </a:solidFill>
                <a:latin typeface="Calibri"/>
              </a:rPr>
              <a:t>81.1%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2606040" cy="1234440"/>
          </a:xfrm>
          <a:prstGeom prst="roundRect">
            <a:avLst/>
          </a:prstGeom>
          <a:solidFill>
            <a:srgbClr val="EE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Precision</a:t>
            </a:r>
          </a:p>
          <a:p>
            <a:pPr algn="ctr"/>
            <a:r>
              <a:rPr sz="2400" b="1">
                <a:solidFill>
                  <a:srgbClr val="1F4E79"/>
                </a:solidFill>
                <a:latin typeface="Calibri"/>
              </a:rPr>
              <a:t>86.5%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1051560"/>
            <a:ext cx="2606040" cy="1234440"/>
          </a:xfrm>
          <a:prstGeom prst="roundRect">
            <a:avLst/>
          </a:prstGeom>
          <a:solidFill>
            <a:srgbClr val="EEF5FB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F1</a:t>
            </a:r>
          </a:p>
          <a:p>
            <a:pPr algn="ctr"/>
            <a:r>
              <a:rPr sz="2400" b="1">
                <a:solidFill>
                  <a:srgbClr val="1F4E79"/>
                </a:solidFill>
                <a:latin typeface="Calibri"/>
              </a:rPr>
              <a:t>0.837</a:t>
            </a:r>
          </a:p>
        </p:txBody>
      </p:sp>
      <p:pic>
        <p:nvPicPr>
          <p:cNvPr id="7" name="Picture 6" descr="06_pr_curve_aleato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4600"/>
            <a:ext cx="3459719" cy="3657600"/>
          </a:xfrm>
          <a:prstGeom prst="rect">
            <a:avLst/>
          </a:prstGeom>
        </p:spPr>
      </p:pic>
      <p:pic>
        <p:nvPicPr>
          <p:cNvPr id="8" name="Picture 7" descr="07_confusion_alea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14600"/>
            <a:ext cx="324726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6. Métrica de negocio: si revisamos Top-K, ¿cuántos fraudes?</a:t>
            </a:r>
          </a:p>
        </p:txBody>
      </p:sp>
      <p:pic>
        <p:nvPicPr>
          <p:cNvPr id="3" name="Picture 2" descr="08_captura_topk_aleato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583680" cy="37742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Top-100 → 77 fraudes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Precision@100 = 77.0%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Recall@100 = 81.1%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Top-500 → 82 fraudes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Lift@500 = 98.0×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El score ordena la cola de revisión del equipo.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7. Umbral operativo: Precision y carga real de alertas</a:t>
            </a:r>
          </a:p>
        </p:txBody>
      </p:sp>
      <p:pic>
        <p:nvPicPr>
          <p:cNvPr id="3" name="Picture 2" descr="09_workload_aleato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583680" cy="37742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28016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FPR 5 % ≈ 2,832 alertas falsas solo en el holdout.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Umbral elegido: 0.55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Alertas a revisar: 88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Recall 81.1% · Precision 87.5%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TP=77 · FP=11 · FN=18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No alcanza con controlar FPR: hay que mirar Precision y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8. Validación temporal vs aleatoria</a:t>
            </a:r>
          </a:p>
        </p:txBody>
      </p:sp>
      <p:pic>
        <p:nvPicPr>
          <p:cNvPr id="3" name="Picture 2" descr="11_comparison_pr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6858000" cy="35705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Aleatorio: mezcla pasado y futuro.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Temporal: entrena con anteriores, prueba con posteriores (más realista).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Mejor temporal: RandomForest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PR-AUC 0.813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Recall 73.0% · Precision 94.7%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Top-100 → 59 · Top-500 → 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9. Impacto, riesgos y consideraciones éticas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Impacto: prioriza la cola de revisión; reduce fraudes no detectados y el ruido operativo.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Combinable con reglas existentes (ML como capa de priorización).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Riesgos: dataset de 2 días (2013); PCA poco interpretable; posible drift.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Ética: datos anonimizados (sin PII); falso positivo = fricción al cliente; falso negativo = pérdida financiera.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El umbral es una decisión de negocio explícita, no un default técnico.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Uso académico bajo licencia ODbL; despliegue real requiere supervisión humana.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10. Conclusiones y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Recomendamos XGBoost como modelo candidato (mejor PR-AUC en holdout aleatorio).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Reportar siempre PR-AUC, Recall, Precision y cantidad de alertas.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Usar captura Top-100 / Top-500 como KPI operativo de la cola de revisión.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Validar con esquema temporal antes de cualquier despliegue.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Próximos pasos: feedback del analista, monitoreo de drift, features adicionales (dispositivo, geo, historial) y calibración de scores.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Código reproducible en el repositorio GitHub del Grupo 33 (README + notebook).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Calibri"/>
              </a:rPr>
              <a:t>Grupo 33 · Detección de Fraude en Tarjetas de Crédito ·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